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 Medium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Roboto Ligh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edium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46" Type="http://schemas.openxmlformats.org/officeDocument/2006/relationships/font" Target="fonts/RobotoLight-bold.fntdata"/><Relationship Id="rId23" Type="http://schemas.openxmlformats.org/officeDocument/2006/relationships/slide" Target="slides/slide18.xml"/><Relationship Id="rId45" Type="http://schemas.openxmlformats.org/officeDocument/2006/relationships/font" Target="fonts/Roboto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RobotoLight-boldItalic.fntdata"/><Relationship Id="rId25" Type="http://schemas.openxmlformats.org/officeDocument/2006/relationships/slide" Target="slides/slide20.xml"/><Relationship Id="rId47" Type="http://schemas.openxmlformats.org/officeDocument/2006/relationships/font" Target="fonts/RobotoLight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Medium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Medium-italic.fntdata"/><Relationship Id="rId16" Type="http://schemas.openxmlformats.org/officeDocument/2006/relationships/slide" Target="slides/slide11.xml"/><Relationship Id="rId38" Type="http://schemas.openxmlformats.org/officeDocument/2006/relationships/font" Target="fonts/Roboto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d8954cfc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d8954cfc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19932b2e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19932b2e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d8954cfc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d8954cfc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d8954cfc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d8954cfc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d8954cfc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d8954cfc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d8954cfc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d8954cfc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d8954cf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d8954cf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d8954cfc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d8954cfc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d8954cfc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d8954cfc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d8954cfc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d8954cfc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4ed9f34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b4ed9f34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db3947e5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db3947e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bddd6458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bddd6458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bddd6458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bddd6458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97ee6c77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97ee6c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97ee6c77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97ee6c77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9a3df4a2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9a3df4a2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db3947e5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db3947e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9bb46b75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9bb46b75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97ee6c77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97ee6c77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97ee6c77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97ee6c77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a43b942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a43b942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a43b942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a43b942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9a3df4a2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9a3df4a2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97ee6c77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97ee6c77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97ee6c77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97ee6c77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9a3df4a2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9a3df4a2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9a3df4a2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9a3df4a2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9a3df4a2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9a3df4a2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9bb46b75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9bb46b75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b="1"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E:\05.03.18 bkp\Documentos\João Victor\UFPE\CIn\Redesign logo CIn\Logotipo CIn-UFPE - Versões\CIn + UFPE\PNG\Horzontal Monocromático Branco - Logotipo CIn + UFPE.png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523923"/>
            <a:ext cx="2078075" cy="6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1693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5727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6188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175000" y="4755388"/>
            <a:ext cx="129745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50375" y="49151"/>
            <a:ext cx="1634600" cy="4854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hyperlink" Target="https://typealias.com/start/kotlin-null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art.dev/null-safety/understanding-null-safety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hyperlink" Target="https://typealias.com/start/kotlin-null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hyperlink" Target="https://typealias.com/start/kotlin-null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40.png"/><Relationship Id="rId7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Relationship Id="rId4" Type="http://schemas.openxmlformats.org/officeDocument/2006/relationships/image" Target="../media/image36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Relationship Id="rId5" Type="http://schemas.openxmlformats.org/officeDocument/2006/relationships/image" Target="../media/image53.png"/><Relationship Id="rId6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44575"/>
            <a:ext cx="8832300" cy="20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/>
              <a:t>Null Safety - OO Increment</a:t>
            </a:r>
            <a:endParaRPr sz="42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PLP 2025.2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4345775" y="3518425"/>
            <a:ext cx="46194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Antonio Pedro - apnn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Humberto Távora - hcct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João Pedro Moura - jpspm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- E se a </a:t>
            </a:r>
            <a:r>
              <a:rPr lang="pt-BR"/>
              <a:t>variável</a:t>
            </a:r>
            <a:r>
              <a:rPr lang="pt-BR"/>
              <a:t> acessada for null?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98525" y="1316775"/>
            <a:ext cx="4560900" cy="1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pt-BR">
                <a:solidFill>
                  <a:srgbClr val="434343"/>
                </a:solidFill>
              </a:rPr>
              <a:t>Null Safety é uma técnica adotada em linguagens modernas para evitar um dos erros mais clássicos e problemáticos da programação: a referência nula, responsável pelo famoso “NullPointerException”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68" name="Google Shape;68;p14"/>
          <p:cNvCxnSpPr>
            <a:stCxn id="67" idx="3"/>
          </p:cNvCxnSpPr>
          <p:nvPr/>
        </p:nvCxnSpPr>
        <p:spPr>
          <a:xfrm>
            <a:off x="4859425" y="1894275"/>
            <a:ext cx="488100" cy="67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9" name="Google Shape;69;p14" title="0EM3g000006ITg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492" y="2727338"/>
            <a:ext cx="3029783" cy="11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- Exemplo em Java</a:t>
            </a:r>
            <a:endParaRPr/>
          </a:p>
        </p:txBody>
      </p:sp>
      <p:pic>
        <p:nvPicPr>
          <p:cNvPr id="75" name="Google Shape;75;p15" title="Captura de tela 16.10.2025 às 10.39.0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25" y="1269400"/>
            <a:ext cx="4988850" cy="78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5"/>
          <p:cNvCxnSpPr>
            <a:stCxn id="75" idx="2"/>
            <a:endCxn id="77" idx="0"/>
          </p:cNvCxnSpPr>
          <p:nvPr/>
        </p:nvCxnSpPr>
        <p:spPr>
          <a:xfrm>
            <a:off x="2912550" y="2050450"/>
            <a:ext cx="947100" cy="4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7" name="Google Shape;77;p15" title="Captura de tela 16.10.2025 às 10.39.49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750" y="2525675"/>
            <a:ext cx="7197926" cy="3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7613750" y="2368125"/>
            <a:ext cx="3936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DB1E2F"/>
                </a:solidFill>
                <a:latin typeface="Roboto"/>
                <a:ea typeface="Roboto"/>
                <a:cs typeface="Roboto"/>
                <a:sym typeface="Roboto"/>
              </a:rPr>
              <a:t>!</a:t>
            </a:r>
            <a:endParaRPr b="1" sz="3200">
              <a:solidFill>
                <a:srgbClr val="DB1E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5" title="artigo-java-lang-nullpointerexception-dica-2867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8925" y="3214425"/>
            <a:ext cx="2020800" cy="10558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- Gambiarra normalmente utilizada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  <p:pic>
        <p:nvPicPr>
          <p:cNvPr id="87" name="Google Shape;87;p16" title="Captura de tela 16.10.2025 às 10.59.0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074" y="1017826"/>
            <a:ext cx="4262100" cy="14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Captura de tela 16.10.2025 às 11.00.00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125" y="2988225"/>
            <a:ext cx="6660451" cy="44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6"/>
          <p:cNvCxnSpPr>
            <a:stCxn id="87" idx="2"/>
            <a:endCxn id="88" idx="0"/>
          </p:cNvCxnSpPr>
          <p:nvPr/>
        </p:nvCxnSpPr>
        <p:spPr>
          <a:xfrm>
            <a:off x="2621124" y="2461551"/>
            <a:ext cx="1297200" cy="5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a man wearing glasses and a maroon jacket says it worked (Fornecido por Tenor)"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024" y="2781550"/>
            <a:ext cx="744075" cy="7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- Como lidar com Null?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632175" y="1256975"/>
            <a:ext cx="66084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pt-BR">
                <a:solidFill>
                  <a:srgbClr val="434343"/>
                </a:solidFill>
              </a:rPr>
              <a:t>Nesse contexto, surge o Null Safety. Linguagens como Kotlin, C# Dart e etc, se preocuparam em garantir que referências nulas sejam tratadas explicitamente: </a:t>
            </a:r>
            <a:endParaRPr>
              <a:solidFill>
                <a:srgbClr val="43434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pt-BR">
                <a:solidFill>
                  <a:srgbClr val="434343"/>
                </a:solidFill>
              </a:rPr>
              <a:t>Tipos e variáveis são </a:t>
            </a:r>
            <a:r>
              <a:rPr b="1" lang="pt-BR">
                <a:solidFill>
                  <a:srgbClr val="434343"/>
                </a:solidFill>
              </a:rPr>
              <a:t>não-nulos</a:t>
            </a:r>
            <a:r>
              <a:rPr lang="pt-BR">
                <a:solidFill>
                  <a:srgbClr val="434343"/>
                </a:solidFill>
              </a:rPr>
              <a:t> por padrão, e só aceitam </a:t>
            </a:r>
            <a:r>
              <a:rPr b="1" lang="pt-BR">
                <a:solidFill>
                  <a:srgbClr val="434343"/>
                </a:solidFill>
              </a:rPr>
              <a:t>null</a:t>
            </a:r>
            <a:r>
              <a:rPr lang="pt-BR">
                <a:solidFill>
                  <a:srgbClr val="434343"/>
                </a:solidFill>
              </a:rPr>
              <a:t> quando indicados de maneira clara pelo desenvolvedor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97" name="Google Shape;97;p17" title="nullable-and-nonnullable-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150" y="2571750"/>
            <a:ext cx="2898175" cy="13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Imagem: </a:t>
            </a:r>
            <a:r>
              <a:rPr lang="pt-BR" sz="800">
                <a:solidFill>
                  <a:srgbClr val="43434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https://typealias.com/start/kotlin-nulls/</a:t>
            </a:r>
            <a:endParaRPr sz="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</a:t>
            </a:r>
            <a:r>
              <a:rPr lang="pt-BR"/>
              <a:t> - Kotlin e Dart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Image</a:t>
            </a:r>
            <a:r>
              <a:rPr lang="pt-BR" sz="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m: </a:t>
            </a:r>
            <a:r>
              <a:rPr lang="pt-BR" sz="800">
                <a:solidFill>
                  <a:srgbClr val="43434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https://dart.dev/null-safety/understanding-null-safety</a:t>
            </a:r>
            <a:endParaRPr sz="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8" title="bifurca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750" y="1017825"/>
            <a:ext cx="4057800" cy="18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nullable-hierarch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6271" y="2947937"/>
            <a:ext cx="2701254" cy="136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1886350" y="3414900"/>
            <a:ext cx="1185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434343"/>
                </a:solidFill>
              </a:rPr>
              <a:t>Ou seja:</a:t>
            </a:r>
            <a:endParaRPr sz="1700">
              <a:solidFill>
                <a:srgbClr val="434343"/>
              </a:solidFill>
            </a:endParaRPr>
          </a:p>
        </p:txBody>
      </p:sp>
      <p:cxnSp>
        <p:nvCxnSpPr>
          <p:cNvPr id="108" name="Google Shape;108;p18"/>
          <p:cNvCxnSpPr>
            <a:stCxn id="105" idx="2"/>
            <a:endCxn id="107" idx="0"/>
          </p:cNvCxnSpPr>
          <p:nvPr/>
        </p:nvCxnSpPr>
        <p:spPr>
          <a:xfrm>
            <a:off x="2468650" y="2846600"/>
            <a:ext cx="10200" cy="5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8"/>
          <p:cNvCxnSpPr>
            <a:stCxn id="107" idx="3"/>
            <a:endCxn id="106" idx="1"/>
          </p:cNvCxnSpPr>
          <p:nvPr/>
        </p:nvCxnSpPr>
        <p:spPr>
          <a:xfrm>
            <a:off x="3071650" y="3629700"/>
            <a:ext cx="204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- Exemplo em Kotlin</a:t>
            </a:r>
            <a:endParaRPr/>
          </a:p>
        </p:txBody>
      </p:sp>
      <p:pic>
        <p:nvPicPr>
          <p:cNvPr id="115" name="Google Shape;115;p19" title="Captura de tela 16.10.2025 às 11.09.1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25" y="1295750"/>
            <a:ext cx="4311500" cy="172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Captura de tela 16.10.2025 às 11.09.57 AM.png"/>
          <p:cNvPicPr preferRelativeResize="0"/>
          <p:nvPr/>
        </p:nvPicPr>
        <p:blipFill rotWithShape="1">
          <a:blip r:embed="rId4">
            <a:alphaModFix/>
          </a:blip>
          <a:srcRect b="9247" l="0" r="11909" t="0"/>
          <a:stretch/>
        </p:blipFill>
        <p:spPr>
          <a:xfrm>
            <a:off x="599838" y="4036375"/>
            <a:ext cx="3998474" cy="27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9"/>
          <p:cNvCxnSpPr>
            <a:stCxn id="115" idx="2"/>
            <a:endCxn id="116" idx="0"/>
          </p:cNvCxnSpPr>
          <p:nvPr/>
        </p:nvCxnSpPr>
        <p:spPr>
          <a:xfrm>
            <a:off x="2599075" y="3015875"/>
            <a:ext cx="0" cy="102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9"/>
          <p:cNvSpPr/>
          <p:nvPr/>
        </p:nvSpPr>
        <p:spPr>
          <a:xfrm rot="1012963">
            <a:off x="2256399" y="2256426"/>
            <a:ext cx="2952342" cy="8494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DB1E2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B1E2F"/>
              </a:solidFill>
              <a:highlight>
                <a:srgbClr val="DB1E2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5221150" y="2495675"/>
            <a:ext cx="21468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434343"/>
                </a:solidFill>
              </a:rPr>
              <a:t>Operador Elvis:</a:t>
            </a:r>
            <a:r>
              <a:rPr lang="pt-BR">
                <a:solidFill>
                  <a:srgbClr val="434343"/>
                </a:solidFill>
              </a:rPr>
              <a:t> </a:t>
            </a:r>
            <a:r>
              <a:rPr lang="pt-BR">
                <a:solidFill>
                  <a:srgbClr val="434343"/>
                </a:solidFill>
              </a:rPr>
              <a:t>?: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5221150" y="3185850"/>
            <a:ext cx="21468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434343"/>
                </a:solidFill>
              </a:rPr>
              <a:t>Operador Safe Call:</a:t>
            </a:r>
            <a:r>
              <a:rPr lang="pt-BR">
                <a:solidFill>
                  <a:srgbClr val="434343"/>
                </a:solidFill>
              </a:rPr>
              <a:t> ?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1" name="Google Shape;121;p19"/>
          <p:cNvSpPr/>
          <p:nvPr/>
        </p:nvSpPr>
        <p:spPr>
          <a:xfrm rot="1462390">
            <a:off x="1615526" y="2576775"/>
            <a:ext cx="3637703" cy="75726"/>
          </a:xfrm>
          <a:prstGeom prst="leftArrow">
            <a:avLst>
              <a:gd fmla="val 57127" name="adj1"/>
              <a:gd fmla="val 50000" name="adj2"/>
            </a:avLst>
          </a:prstGeom>
          <a:solidFill>
            <a:srgbClr val="DB1E2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B1E2F"/>
              </a:solidFill>
              <a:highlight>
                <a:srgbClr val="DB1E2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- Situa</a:t>
            </a:r>
            <a:r>
              <a:rPr lang="pt-BR"/>
              <a:t>ção Prática</a:t>
            </a:r>
            <a:endParaRPr/>
          </a:p>
        </p:txBody>
      </p:sp>
      <p:pic>
        <p:nvPicPr>
          <p:cNvPr id="127" name="Google Shape;127;p20" title="non-null-don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74" y="1382875"/>
            <a:ext cx="2194272" cy="137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nullable-don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0768" y="2820533"/>
            <a:ext cx="2194266" cy="137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Captura de tela 16.10.2025 às 11.20.49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8138" y="1510474"/>
            <a:ext cx="2179800" cy="4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 title="call-function-with-nullable-par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8676" y="2291628"/>
            <a:ext cx="2983200" cy="10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Imagem: </a:t>
            </a:r>
            <a:r>
              <a:rPr lang="pt-BR" sz="800">
                <a:solidFill>
                  <a:srgbClr val="43434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https://typealias.com/start/kotlin-nulls/</a:t>
            </a:r>
            <a:endParaRPr sz="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- Situação Prática</a:t>
            </a:r>
            <a:endParaRPr/>
          </a:p>
        </p:txBody>
      </p:sp>
      <p:pic>
        <p:nvPicPr>
          <p:cNvPr id="137" name="Google Shape;137;p21" title="non-null-don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74" y="1382875"/>
            <a:ext cx="2194272" cy="137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nullable-paym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5050" y="2799900"/>
            <a:ext cx="2231325" cy="140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 title="Captura de tela 16.10.2025 às 11.24.40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5250" y="1516250"/>
            <a:ext cx="2275774" cy="4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 title="call-function-with-nonnullable-par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5125" y="2243975"/>
            <a:ext cx="3203325" cy="116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Imagem: </a:t>
            </a:r>
            <a:r>
              <a:rPr lang="pt-BR" sz="800">
                <a:solidFill>
                  <a:srgbClr val="43434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https://typealias.com/start/kotlin-nulls/</a:t>
            </a:r>
            <a:endParaRPr sz="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</a:t>
            </a:r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367775" y="1142875"/>
            <a:ext cx="8114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pt-BR">
                <a:solidFill>
                  <a:srgbClr val="434343"/>
                </a:solidFill>
              </a:rPr>
              <a:t>Redução de bugs: A maior parte das exceções de referência nula é removida porque o tratamento e uso de valores nulos é obrigatório e explícito, diminuindo falhas em tempo de execução.</a:t>
            </a:r>
            <a:br>
              <a:rPr lang="pt-BR">
                <a:solidFill>
                  <a:srgbClr val="434343"/>
                </a:solidFill>
              </a:rPr>
            </a:br>
            <a:endParaRPr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pt-BR">
                <a:solidFill>
                  <a:srgbClr val="434343"/>
                </a:solidFill>
              </a:rPr>
              <a:t>Melhoria da legibilidade: O código fica mais claro sobre os casos em que aceita ou não valores nulos, ajudando na leitura e manutenção do software.</a:t>
            </a:r>
            <a:br>
              <a:rPr lang="pt-BR">
                <a:solidFill>
                  <a:srgbClr val="434343"/>
                </a:solidFill>
              </a:rPr>
            </a:br>
            <a:endParaRPr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pt-BR">
                <a:solidFill>
                  <a:srgbClr val="434343"/>
                </a:solidFill>
              </a:rPr>
              <a:t>Manutenção facilitada: A clareza e previsibilidade de tipos nulos e não-nulos tornam o processo de manutenção e extensão de código menos suscetível a erros ocultos.</a:t>
            </a:r>
            <a:endParaRPr>
              <a:solidFill>
                <a:srgbClr val="43434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pt-BR">
                <a:solidFill>
                  <a:srgbClr val="434343"/>
                </a:solidFill>
              </a:rPr>
              <a:t>Performance: Ao evitar verificações desnecessárias em tempo de execução, aplicações se tornam mais rápidas e eficientes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Null Safety - BNF Gen</a:t>
            </a:r>
            <a:r>
              <a:rPr lang="pt-BR"/>
              <a:t>érica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380050" y="1052850"/>
            <a:ext cx="7026900" cy="3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434343"/>
                </a:solidFill>
              </a:rPr>
              <a:t>&lt;Tipo&gt;</a:t>
            </a:r>
            <a:r>
              <a:rPr lang="pt-BR">
                <a:solidFill>
                  <a:srgbClr val="434343"/>
                </a:solidFill>
              </a:rPr>
              <a:t> ::= </a:t>
            </a:r>
            <a:r>
              <a:rPr b="1" lang="pt-BR">
                <a:solidFill>
                  <a:srgbClr val="434343"/>
                </a:solidFill>
              </a:rPr>
              <a:t>&lt;TipoNaoNulo&gt;</a:t>
            </a:r>
            <a:r>
              <a:rPr lang="pt-BR">
                <a:solidFill>
                  <a:srgbClr val="434343"/>
                </a:solidFill>
              </a:rPr>
              <a:t> | </a:t>
            </a:r>
            <a:r>
              <a:rPr b="1" lang="pt-BR">
                <a:solidFill>
                  <a:srgbClr val="434343"/>
                </a:solidFill>
              </a:rPr>
              <a:t>&lt;TipoNullable&gt;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434343"/>
                </a:solidFill>
              </a:rPr>
              <a:t>&lt;TipoNaoNulo&gt;</a:t>
            </a:r>
            <a:r>
              <a:rPr lang="pt-BR">
                <a:solidFill>
                  <a:srgbClr val="434343"/>
                </a:solidFill>
              </a:rPr>
              <a:t> ::= </a:t>
            </a:r>
            <a:r>
              <a:rPr lang="pt-BR">
                <a:solidFill>
                  <a:srgbClr val="434343"/>
                </a:solidFill>
              </a:rPr>
              <a:t>"int" | "float" | "boolean" | "String" | </a:t>
            </a:r>
            <a:r>
              <a:rPr lang="pt-BR">
                <a:solidFill>
                  <a:srgbClr val="434343"/>
                </a:solidFill>
              </a:rPr>
              <a:t>&lt;NomeClasse&gt;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434343"/>
                </a:solidFill>
              </a:rPr>
              <a:t>&lt;TipoNullable&gt;</a:t>
            </a:r>
            <a:r>
              <a:rPr lang="pt-BR">
                <a:solidFill>
                  <a:srgbClr val="434343"/>
                </a:solidFill>
              </a:rPr>
              <a:t> ::= </a:t>
            </a:r>
            <a:r>
              <a:rPr lang="pt-BR">
                <a:solidFill>
                  <a:srgbClr val="434343"/>
                </a:solidFill>
              </a:rPr>
              <a:t>&lt;NomeClasse&gt; </a:t>
            </a:r>
            <a:r>
              <a:rPr lang="pt-BR">
                <a:solidFill>
                  <a:srgbClr val="434343"/>
                </a:solidFill>
              </a:rPr>
              <a:t>"?"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434343"/>
                </a:solidFill>
              </a:rPr>
              <a:t>&lt;Expressao&gt;</a:t>
            </a:r>
            <a:r>
              <a:rPr lang="pt-BR">
                <a:solidFill>
                  <a:srgbClr val="434343"/>
                </a:solidFill>
              </a:rPr>
              <a:t> ::= </a:t>
            </a:r>
            <a:r>
              <a:rPr b="1" lang="pt-BR">
                <a:solidFill>
                  <a:srgbClr val="434343"/>
                </a:solidFill>
              </a:rPr>
              <a:t>&lt;ExpressaoPadrão&gt;</a:t>
            </a:r>
            <a:r>
              <a:rPr lang="pt-BR">
                <a:solidFill>
                  <a:srgbClr val="434343"/>
                </a:solidFill>
              </a:rPr>
              <a:t> | </a:t>
            </a:r>
            <a:r>
              <a:rPr b="1" lang="pt-BR">
                <a:solidFill>
                  <a:srgbClr val="434343"/>
                </a:solidFill>
              </a:rPr>
              <a:t>&lt;ExpressaoSegura&gt; | </a:t>
            </a:r>
            <a:r>
              <a:rPr b="1" lang="pt-BR">
                <a:solidFill>
                  <a:srgbClr val="434343"/>
                </a:solidFill>
              </a:rPr>
              <a:t>&lt;ExpressaoElvis&gt;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434343"/>
                </a:solidFill>
              </a:rPr>
              <a:t>&lt;</a:t>
            </a:r>
            <a:r>
              <a:rPr b="1" lang="pt-BR">
                <a:solidFill>
                  <a:srgbClr val="434343"/>
                </a:solidFill>
              </a:rPr>
              <a:t>ExpressaoPadrão</a:t>
            </a:r>
            <a:r>
              <a:rPr b="1" lang="pt-BR">
                <a:solidFill>
                  <a:srgbClr val="434343"/>
                </a:solidFill>
              </a:rPr>
              <a:t>&gt;</a:t>
            </a:r>
            <a:r>
              <a:rPr lang="pt-BR">
                <a:solidFill>
                  <a:srgbClr val="434343"/>
                </a:solidFill>
              </a:rPr>
              <a:t> ::= </a:t>
            </a:r>
            <a:r>
              <a:rPr b="1" lang="pt-BR">
                <a:solidFill>
                  <a:srgbClr val="434343"/>
                </a:solidFill>
              </a:rPr>
              <a:t>&lt;Variavel&gt;</a:t>
            </a:r>
            <a:r>
              <a:rPr lang="pt-BR">
                <a:solidFill>
                  <a:srgbClr val="434343"/>
                </a:solidFill>
              </a:rPr>
              <a:t> | </a:t>
            </a:r>
            <a:r>
              <a:rPr b="1" lang="pt-BR">
                <a:solidFill>
                  <a:srgbClr val="434343"/>
                </a:solidFill>
              </a:rPr>
              <a:t>&lt;Metodo&gt;</a:t>
            </a:r>
            <a:r>
              <a:rPr lang="pt-BR">
                <a:solidFill>
                  <a:srgbClr val="434343"/>
                </a:solidFill>
              </a:rPr>
              <a:t> | ...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434343"/>
                </a:solidFill>
              </a:rPr>
              <a:t>&lt;ExpressaoSegura&gt;</a:t>
            </a:r>
            <a:r>
              <a:rPr lang="pt-BR">
                <a:solidFill>
                  <a:srgbClr val="434343"/>
                </a:solidFill>
              </a:rPr>
              <a:t> ::= </a:t>
            </a:r>
            <a:r>
              <a:rPr b="1" lang="pt-BR">
                <a:solidFill>
                  <a:srgbClr val="434343"/>
                </a:solidFill>
              </a:rPr>
              <a:t>&lt;</a:t>
            </a:r>
            <a:r>
              <a:rPr b="1" lang="pt-BR">
                <a:solidFill>
                  <a:srgbClr val="434343"/>
                </a:solidFill>
              </a:rPr>
              <a:t>ExpressaoPadrão</a:t>
            </a:r>
            <a:r>
              <a:rPr b="1" lang="pt-BR">
                <a:solidFill>
                  <a:srgbClr val="434343"/>
                </a:solidFill>
              </a:rPr>
              <a:t>&gt;</a:t>
            </a:r>
            <a:r>
              <a:rPr lang="pt-BR">
                <a:solidFill>
                  <a:srgbClr val="434343"/>
                </a:solidFill>
              </a:rPr>
              <a:t> "?." </a:t>
            </a:r>
            <a:r>
              <a:rPr b="1" lang="pt-BR">
                <a:solidFill>
                  <a:srgbClr val="434343"/>
                </a:solidFill>
              </a:rPr>
              <a:t>&lt;Metodo&gt; 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434343"/>
                </a:solidFill>
              </a:rPr>
              <a:t>				| </a:t>
            </a:r>
            <a:r>
              <a:rPr b="1" lang="pt-BR">
                <a:solidFill>
                  <a:srgbClr val="434343"/>
                </a:solidFill>
              </a:rPr>
              <a:t>&lt;ExpressaoPadrão&gt;</a:t>
            </a:r>
            <a:r>
              <a:rPr lang="pt-BR">
                <a:solidFill>
                  <a:srgbClr val="434343"/>
                </a:solidFill>
              </a:rPr>
              <a:t> "?." </a:t>
            </a:r>
            <a:r>
              <a:rPr b="1" lang="pt-BR">
                <a:solidFill>
                  <a:srgbClr val="434343"/>
                </a:solidFill>
              </a:rPr>
              <a:t>&lt;ID&gt; </a:t>
            </a:r>
            <a:endParaRPr b="1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434343"/>
                </a:solidFill>
              </a:rPr>
              <a:t>&lt;ExpressaoElvis&gt;</a:t>
            </a:r>
            <a:r>
              <a:rPr lang="pt-BR">
                <a:solidFill>
                  <a:srgbClr val="434343"/>
                </a:solidFill>
              </a:rPr>
              <a:t> ::= </a:t>
            </a:r>
            <a:r>
              <a:rPr b="1" lang="pt-BR">
                <a:solidFill>
                  <a:srgbClr val="434343"/>
                </a:solidFill>
              </a:rPr>
              <a:t>&lt;Expressao&gt;</a:t>
            </a:r>
            <a:r>
              <a:rPr lang="pt-BR">
                <a:solidFill>
                  <a:srgbClr val="434343"/>
                </a:solidFill>
              </a:rPr>
              <a:t> "?:" </a:t>
            </a:r>
            <a:r>
              <a:rPr b="1" lang="pt-BR">
                <a:solidFill>
                  <a:srgbClr val="434343"/>
                </a:solidFill>
              </a:rPr>
              <a:t>&lt;Expressao&gt;</a:t>
            </a:r>
            <a:endParaRPr b="1">
              <a:solidFill>
                <a:srgbClr val="434343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6577800" y="4181125"/>
            <a:ext cx="21468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DB1E2F"/>
                </a:solidFill>
              </a:rPr>
              <a:t>Operador Elvis:</a:t>
            </a:r>
            <a:r>
              <a:rPr lang="pt-BR">
                <a:solidFill>
                  <a:srgbClr val="434343"/>
                </a:solidFill>
              </a:rPr>
              <a:t> ?: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6577800" y="3459775"/>
            <a:ext cx="21468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DB1E2F"/>
                </a:solidFill>
              </a:rPr>
              <a:t>Operador Safe Call:</a:t>
            </a:r>
            <a:r>
              <a:rPr lang="pt-BR">
                <a:solidFill>
                  <a:srgbClr val="434343"/>
                </a:solidFill>
              </a:rPr>
              <a:t> ?.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56" name="Google Shape;156;p23"/>
          <p:cNvCxnSpPr>
            <a:endCxn id="155" idx="1"/>
          </p:cNvCxnSpPr>
          <p:nvPr/>
        </p:nvCxnSpPr>
        <p:spPr>
          <a:xfrm flipH="1" rot="10800000">
            <a:off x="5564700" y="3700525"/>
            <a:ext cx="10131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3"/>
          <p:cNvCxnSpPr>
            <a:endCxn id="154" idx="1"/>
          </p:cNvCxnSpPr>
          <p:nvPr/>
        </p:nvCxnSpPr>
        <p:spPr>
          <a:xfrm>
            <a:off x="4925700" y="4420975"/>
            <a:ext cx="16521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Null Safety - Adaptações na linguagem OO</a:t>
            </a:r>
            <a:br>
              <a:rPr lang="pt-BR"/>
            </a:br>
            <a:r>
              <a:rPr lang="pt-BR"/>
              <a:t>- Tipo</a:t>
            </a:r>
            <a:endParaRPr/>
          </a:p>
        </p:txBody>
      </p:sp>
      <p:pic>
        <p:nvPicPr>
          <p:cNvPr id="163" name="Google Shape;163;p24" title="Captura de tela 20.10.2025 às 11.27.0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50" y="1461575"/>
            <a:ext cx="1907574" cy="68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3660275" y="1264350"/>
            <a:ext cx="487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</a:rPr>
              <a:t>Tipo ::= TipoClasse | TipoPrimitivo | TipoNullable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</a:rPr>
              <a:t>TipoNullable ::= TipoClasse "?"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65" name="Google Shape;165;p24"/>
          <p:cNvCxnSpPr>
            <a:stCxn id="163" idx="3"/>
            <a:endCxn id="164" idx="1"/>
          </p:cNvCxnSpPr>
          <p:nvPr/>
        </p:nvCxnSpPr>
        <p:spPr>
          <a:xfrm>
            <a:off x="2475724" y="1804200"/>
            <a:ext cx="118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4"/>
          <p:cNvSpPr txBox="1"/>
          <p:nvPr/>
        </p:nvSpPr>
        <p:spPr>
          <a:xfrm>
            <a:off x="1707600" y="3227250"/>
            <a:ext cx="183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DB1E2F"/>
                </a:solidFill>
              </a:rPr>
              <a:t>Pessoa? aluno;</a:t>
            </a:r>
            <a:endParaRPr>
              <a:solidFill>
                <a:srgbClr val="DB1E2F"/>
              </a:solidFill>
            </a:endParaRPr>
          </a:p>
        </p:txBody>
      </p:sp>
      <p:pic>
        <p:nvPicPr>
          <p:cNvPr descr="Green check mark icon. Vector. (Fornecido por Getty Images)"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6699" y="2863374"/>
            <a:ext cx="1045299" cy="104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Null Safety - Adapta</a:t>
            </a:r>
            <a:r>
              <a:rPr lang="pt-BR"/>
              <a:t>ções na linguagem OO</a:t>
            </a:r>
            <a:br>
              <a:rPr lang="pt-BR"/>
            </a:br>
            <a:r>
              <a:rPr lang="pt-BR"/>
              <a:t>- Safe Call e Elvis</a:t>
            </a: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4495775" y="1262850"/>
            <a:ext cx="23295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4525" lIns="74525" spcFirstLastPara="1" rIns="74525" wrap="square" tIns="745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ExpPadrão ::= Valor</a:t>
            </a:r>
            <a:endParaRPr b="1" sz="11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       | ExpUnaria</a:t>
            </a:r>
            <a:endParaRPr b="1" sz="11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       | ExpBinaria</a:t>
            </a:r>
            <a:endParaRPr b="1" sz="11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       | LeftExpression</a:t>
            </a:r>
            <a:endParaRPr b="1" sz="11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       | This</a:t>
            </a:r>
            <a:endParaRPr b="1" sz="114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>
              <a:solidFill>
                <a:schemeClr val="dk1"/>
              </a:solidFill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4495769" y="2324016"/>
            <a:ext cx="40665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525" lIns="74525" spcFirstLastPara="1" rIns="74525" wrap="square" tIns="74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ExpSegura ::= Expressao</a:t>
            </a:r>
            <a:r>
              <a:rPr lang="pt-BR" sz="1141">
                <a:solidFill>
                  <a:schemeClr val="dk1"/>
                </a:solidFill>
              </a:rPr>
              <a:t> “?.” </a:t>
            </a:r>
            <a:r>
              <a:rPr b="1" lang="pt-BR" sz="1141">
                <a:solidFill>
                  <a:schemeClr val="dk1"/>
                </a:solidFill>
              </a:rPr>
              <a:t>Id</a:t>
            </a:r>
            <a:endParaRPr b="1" sz="114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1">
                <a:solidFill>
                  <a:schemeClr val="dk1"/>
                </a:solidFill>
              </a:rPr>
              <a:t> 		</a:t>
            </a:r>
            <a:r>
              <a:rPr b="1" lang="pt-BR" sz="1141">
                <a:solidFill>
                  <a:schemeClr val="dk1"/>
                </a:solidFill>
              </a:rPr>
              <a:t> | Expressao </a:t>
            </a:r>
            <a:r>
              <a:rPr lang="pt-BR" sz="1141">
                <a:solidFill>
                  <a:schemeClr val="dk1"/>
                </a:solidFill>
              </a:rPr>
              <a:t>"?."</a:t>
            </a:r>
            <a:r>
              <a:rPr b="1" lang="pt-BR" sz="1141">
                <a:solidFill>
                  <a:schemeClr val="dk1"/>
                </a:solidFill>
              </a:rPr>
              <a:t> Id "</a:t>
            </a:r>
            <a:r>
              <a:rPr lang="pt-BR" sz="1141">
                <a:solidFill>
                  <a:schemeClr val="dk1"/>
                </a:solidFill>
              </a:rPr>
              <a:t>(</a:t>
            </a:r>
            <a:r>
              <a:rPr b="1" lang="pt-BR" sz="1141">
                <a:solidFill>
                  <a:schemeClr val="dk1"/>
                </a:solidFill>
              </a:rPr>
              <a:t>" "</a:t>
            </a:r>
            <a:r>
              <a:rPr lang="pt-BR" sz="1141">
                <a:solidFill>
                  <a:schemeClr val="dk1"/>
                </a:solidFill>
              </a:rPr>
              <a:t>)</a:t>
            </a:r>
            <a:r>
              <a:rPr b="1" lang="pt-BR" sz="1141">
                <a:solidFill>
                  <a:schemeClr val="dk1"/>
                </a:solidFill>
              </a:rPr>
              <a:t>"</a:t>
            </a:r>
            <a:endParaRPr b="1" sz="114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           		 | Expressao</a:t>
            </a:r>
            <a:r>
              <a:rPr lang="pt-BR" sz="1141">
                <a:solidFill>
                  <a:schemeClr val="dk1"/>
                </a:solidFill>
              </a:rPr>
              <a:t> "?."</a:t>
            </a:r>
            <a:r>
              <a:rPr b="1" lang="pt-BR" sz="1141">
                <a:solidFill>
                  <a:schemeClr val="dk1"/>
                </a:solidFill>
              </a:rPr>
              <a:t> Id "</a:t>
            </a:r>
            <a:r>
              <a:rPr lang="pt-BR" sz="1141">
                <a:solidFill>
                  <a:schemeClr val="dk1"/>
                </a:solidFill>
              </a:rPr>
              <a:t>(</a:t>
            </a:r>
            <a:r>
              <a:rPr b="1" lang="pt-BR" sz="1141">
                <a:solidFill>
                  <a:schemeClr val="dk1"/>
                </a:solidFill>
              </a:rPr>
              <a:t>" ListaExpressao "</a:t>
            </a:r>
            <a:r>
              <a:rPr lang="pt-BR" sz="1141">
                <a:solidFill>
                  <a:schemeClr val="dk1"/>
                </a:solidFill>
              </a:rPr>
              <a:t>)</a:t>
            </a:r>
            <a:r>
              <a:rPr b="1" lang="pt-BR" sz="1141">
                <a:solidFill>
                  <a:schemeClr val="dk1"/>
                </a:solidFill>
              </a:rPr>
              <a:t>"</a:t>
            </a:r>
            <a:endParaRPr b="1" sz="1141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 | Expressao </a:t>
            </a:r>
            <a:r>
              <a:rPr lang="pt-BR" sz="1141">
                <a:solidFill>
                  <a:schemeClr val="dk1"/>
                </a:solidFill>
              </a:rPr>
              <a:t>“?:”</a:t>
            </a:r>
            <a:r>
              <a:rPr b="1" lang="pt-BR" sz="1141">
                <a:solidFill>
                  <a:schemeClr val="dk1"/>
                </a:solidFill>
              </a:rPr>
              <a:t> Expressao</a:t>
            </a:r>
            <a:endParaRPr b="1" sz="114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41">
              <a:solidFill>
                <a:schemeClr val="dk1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2407975" y="3518125"/>
            <a:ext cx="1796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DB1E2F"/>
                </a:solidFill>
              </a:rPr>
              <a:t>aluno?.nome</a:t>
            </a:r>
            <a:endParaRPr>
              <a:solidFill>
                <a:srgbClr val="DB1E2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DB1E2F"/>
                </a:solidFill>
              </a:rPr>
              <a:t>aluno?.imprimir()</a:t>
            </a:r>
            <a:endParaRPr>
              <a:solidFill>
                <a:srgbClr val="DB1E2F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1372375" y="4146625"/>
            <a:ext cx="3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DB1E2F"/>
                </a:solidFill>
              </a:rPr>
              <a:t>nomeFinal = aluno?.nome ?: "Desconhecido"</a:t>
            </a:r>
            <a:endParaRPr>
              <a:solidFill>
                <a:srgbClr val="DB1E2F"/>
              </a:solidFill>
            </a:endParaRPr>
          </a:p>
        </p:txBody>
      </p:sp>
      <p:pic>
        <p:nvPicPr>
          <p:cNvPr descr="Green check mark icon. Vector. (Fornecido por Getty Images)"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099" y="3319474"/>
            <a:ext cx="1045299" cy="1045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1265375" y="3610975"/>
            <a:ext cx="1196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Safe Call: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749950" y="4115575"/>
            <a:ext cx="744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Elvis: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25" title="Captura de Tela 2025-10-21 às 14.16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15846"/>
            <a:ext cx="1743950" cy="10874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25"/>
          <p:cNvCxnSpPr>
            <a:stCxn id="180" idx="3"/>
          </p:cNvCxnSpPr>
          <p:nvPr/>
        </p:nvCxnSpPr>
        <p:spPr>
          <a:xfrm flipH="1" rot="10800000">
            <a:off x="2055650" y="1955048"/>
            <a:ext cx="5511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5"/>
          <p:cNvSpPr txBox="1"/>
          <p:nvPr/>
        </p:nvSpPr>
        <p:spPr>
          <a:xfrm>
            <a:off x="2666575" y="1780425"/>
            <a:ext cx="22716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525" lIns="74525" spcFirstLastPara="1" rIns="74525" wrap="square" tIns="745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Expressao</a:t>
            </a:r>
            <a:r>
              <a:rPr b="1" lang="pt-BR" sz="1141">
                <a:solidFill>
                  <a:schemeClr val="dk1"/>
                </a:solidFill>
              </a:rPr>
              <a:t> ::= ExpPadrao</a:t>
            </a:r>
            <a:endParaRPr b="1" sz="11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41">
                <a:solidFill>
                  <a:schemeClr val="dk1"/>
                </a:solidFill>
              </a:rPr>
              <a:t>       | ExpSegura</a:t>
            </a:r>
            <a:endParaRPr sz="114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/>
        </p:nvSpPr>
        <p:spPr>
          <a:xfrm>
            <a:off x="4572000" y="1291975"/>
            <a:ext cx="3621000" cy="3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525" lIns="74525" spcFirstLastPara="1" rIns="74525" wrap="square" tIns="745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       ListaExpressao ::= Expressao | Expressao “,” ListaExpressao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New ::= LeftExpression “:=” “new” Id “(“ [ListaExpressao] “)”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Atribuicao ::= LeftExpression “:=”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IO ::= “write” “(“ Expressao “)” | “read” “(“ Id “)”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Expressao ::= ExpPadrao | ExpSegura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ExpPadrao</a:t>
            </a: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::= Valor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      | ExpUnaria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      | ExpBinaria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      | LeftExpression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      | This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Valor ::= ValorConcreto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ValorConcreto ::= ValorInteiro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ValorBooleano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ValorString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ValorNull</a:t>
            </a:r>
            <a:endParaRPr b="1" sz="741">
              <a:solidFill>
                <a:schemeClr val="dk1"/>
              </a:solidFill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741875" y="1291975"/>
            <a:ext cx="3621000" cy="3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525" lIns="74525" spcFirstLastPara="1" rIns="74525" wrap="square" tIns="74525">
            <a:noAutofit/>
          </a:bodyPr>
          <a:lstStyle/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Programa ::= “{“ ListaDeclaracaoOO “;” Comando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Comando ::= AtribuicaoOO2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ComDeclaracao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While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IfThenElse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IO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Comando “;” Comando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Skip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New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ChamadaMetodo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Skip ::=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ComDeclaracao ::= “{“ DecVariavel “;” Comando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While ::= “while” Expressao “do” “{“ Comando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IfThenElse ::= “if” Expressao “then” “{“ Comando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| “if” Expressao “then” “{“ Comando “}” “else” “{“ Comando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ChamadaMetodo ::= Expressao "." Id "(" ListaExpressao ")" 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41">
                <a:solidFill>
                  <a:schemeClr val="dk1"/>
                </a:solidFill>
              </a:rPr>
              <a:t>                | Expressao "." Id "(" ")" 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Null Safety - Adaptações na linguagem OO</a:t>
            </a:r>
            <a:br>
              <a:rPr lang="pt-BR"/>
            </a:br>
            <a:r>
              <a:rPr lang="pt-BR"/>
              <a:t>- Safe Call e Elvis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/>
        </p:nvSpPr>
        <p:spPr>
          <a:xfrm>
            <a:off x="741875" y="1291975"/>
            <a:ext cx="3621000" cy="3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525" lIns="74525" spcFirstLastPara="1" rIns="74525" wrap="square" tIns="74525">
            <a:noAutofit/>
          </a:bodyPr>
          <a:lstStyle/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ExpUnaria ::= -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not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length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ExpBinaria ::= Expressao +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Expressao -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Expressao and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Expressao or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Expressao ==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Expressao ++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LeftExpression ::= Id | AcessoAtributo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AcessoAtributo ::= LeftExpression "." Id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          | this "." Id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ListaDeclaracaoOO ::= DecClasse | DecClasse “,” ListaDeclaracaoOO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DecClasse ::= “classe” Id [“extends” Id] “{“ DecVariavel “;” DecConstrutor “,” DecProcedimento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DecConstrutor ::= Id “(“ ListaDeclaracaoParametro “)” “{“ Comando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</p:txBody>
      </p:sp>
      <p:sp>
        <p:nvSpPr>
          <p:cNvPr id="195" name="Google Shape;195;p27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Null Safety - Adaptações na linguagem OO</a:t>
            </a:r>
            <a:br>
              <a:rPr lang="pt-BR"/>
            </a:br>
            <a:r>
              <a:rPr lang="pt-BR"/>
              <a:t>- Safe Call e Elvis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4572000" y="1291975"/>
            <a:ext cx="4205700" cy="3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525" lIns="74525" spcFirstLastPara="1" rIns="74525" wrap="square" tIns="74525">
            <a:noAutofit/>
          </a:bodyPr>
          <a:lstStyle/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DecVariavel ::= Tipo Id “=” Expressao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DecVariavel “,” DecVariavel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Tipo Id “:=” “new” Id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DecProcedimento ::= “proc” Id “(“ ListaDeclaracaoParametro “)” “{“ Comando “}”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       | DecProcedimento “,” DecProcedimento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ListaDeclaracaoParametro ::= Tipo Id | Tipo Id “,” ListaDeclaracaoParametro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Tipo ::= TipoPadrao | </a:t>
            </a: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TipoNullable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TipoPadrao ::= </a:t>
            </a: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TipoPrimitivo | TipoClasse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TipoClasse ::= Id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</a:rPr>
              <a:t>TipoPrimitivo ::= “string” | “int” | “boolean”</a:t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TipoNullable ::= TipoClasse "?"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ExpSegura ::= Expressao "?." Id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            | Expressao "?." Id "(" ")"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            | Expressao "?." Id "(" ListaExpressao ")"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41">
                <a:solidFill>
                  <a:schemeClr val="dk1"/>
                </a:solidFill>
                <a:highlight>
                  <a:srgbClr val="B6D7A8"/>
                </a:highlight>
              </a:rPr>
              <a:t>          | Expressao "?:” Expressao</a:t>
            </a:r>
            <a:endParaRPr b="1" sz="741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  <a:p>
            <a:pPr indent="0" lvl="0" marL="37269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4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Visão Geral (Parser)</a:t>
            </a:r>
            <a:endParaRPr/>
          </a:p>
        </p:txBody>
      </p:sp>
      <p:pic>
        <p:nvPicPr>
          <p:cNvPr id="202" name="Google Shape;202;p28" title="Captura de Tela 2025-11-24 às 22.54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650" y="1017825"/>
            <a:ext cx="2682976" cy="10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223100" y="1105950"/>
            <a:ext cx="47448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</a:rPr>
              <a:t>Inclusão dos novos tokens de operadores Safety: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204" name="Google Shape;204;p28" title="Captura de Tela 2025-11-24 às 23.07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300" y="2418150"/>
            <a:ext cx="4908577" cy="16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223100" y="1652638"/>
            <a:ext cx="326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34343"/>
                </a:solidFill>
              </a:rPr>
              <a:t>Regra de produção de Exp Elvis: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223100" y="2015888"/>
            <a:ext cx="3760200" cy="2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Reconhece uma expressão binária</a:t>
            </a:r>
            <a:endParaRPr sz="1100"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/>
              <a:t>Verifica se depois dela existe ?: (</a:t>
            </a:r>
            <a:r>
              <a:rPr b="1" lang="pt-BR" sz="1100"/>
              <a:t>ELVIS</a:t>
            </a:r>
            <a:r>
              <a:rPr lang="pt-BR" sz="1100"/>
              <a:t>)</a:t>
            </a:r>
            <a:endParaRPr sz="1100"/>
          </a:p>
          <a:p>
            <a:pPr indent="45720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100"/>
              <a:t>Caso sim: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Reconhece outra expressão Elvis à direita (alt = </a:t>
            </a:r>
            <a:r>
              <a:rPr b="1" lang="pt-BR" sz="1100"/>
              <a:t>PExpElvis</a:t>
            </a:r>
            <a:r>
              <a:rPr lang="pt-BR" sz="1100"/>
              <a:t>()).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Graças ao *, esse processo pode ser repetido, permitindo encadear múltiplos Elvis.</a:t>
            </a:r>
            <a:endParaRPr sz="1100"/>
          </a:p>
          <a:p>
            <a:pPr indent="45720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100"/>
              <a:t>Caso não: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Retorna apenas a expressão binária.</a:t>
            </a:r>
            <a:endParaRPr sz="1100"/>
          </a:p>
        </p:txBody>
      </p:sp>
      <p:sp>
        <p:nvSpPr>
          <p:cNvPr id="207" name="Google Shape;207;p28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Visão Geral (Parser)</a:t>
            </a:r>
            <a:endParaRPr/>
          </a:p>
        </p:txBody>
      </p:sp>
      <p:pic>
        <p:nvPicPr>
          <p:cNvPr id="213" name="Google Shape;213;p29" title="Captura de Tela 2025-11-24 às 23.15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543476"/>
            <a:ext cx="3307149" cy="171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9"/>
          <p:cNvSpPr txBox="1"/>
          <p:nvPr/>
        </p:nvSpPr>
        <p:spPr>
          <a:xfrm>
            <a:off x="3535750" y="1165325"/>
            <a:ext cx="5076900" cy="3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Agora, sempre que o parser encontrar uma expressão (terminal ou não terminal </a:t>
            </a:r>
            <a:r>
              <a:rPr b="1" lang="pt-BR"/>
              <a:t>PExpressao</a:t>
            </a:r>
            <a:r>
              <a:rPr lang="pt-BR"/>
              <a:t>), ele vai chamar a função (ou sub-regra) </a:t>
            </a:r>
            <a:r>
              <a:rPr b="1" lang="pt-BR"/>
              <a:t>PExpElvis</a:t>
            </a:r>
            <a:r>
              <a:rPr lang="pt-BR"/>
              <a:t>.</a:t>
            </a:r>
            <a:br>
              <a:rPr lang="pt-BR"/>
            </a:b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pt-BR"/>
              <a:t>Se não tiver </a:t>
            </a:r>
            <a:r>
              <a:rPr b="1" lang="pt-BR"/>
              <a:t>?:</a:t>
            </a:r>
            <a:r>
              <a:rPr lang="pt-BR"/>
              <a:t>, a regra de </a:t>
            </a:r>
            <a:r>
              <a:rPr b="1" lang="pt-BR"/>
              <a:t>PExpElvis</a:t>
            </a:r>
            <a:r>
              <a:rPr lang="pt-BR"/>
              <a:t> normalmente estrutura para passar o parsing adiante para as outras formas de expressão (binária, unária, primária).</a:t>
            </a:r>
            <a:br>
              <a:rPr lang="pt-BR"/>
            </a:b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Colocar </a:t>
            </a:r>
            <a:r>
              <a:rPr b="1" lang="pt-BR"/>
              <a:t>PExpElvis</a:t>
            </a:r>
            <a:r>
              <a:rPr lang="pt-BR"/>
              <a:t>() como ponto de entrada faz com que qualquer expressão da linguagem seja capaz de usar Elvis no topo do parsing.</a:t>
            </a:r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4001200" y="4065725"/>
            <a:ext cx="23709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/>
              <a:t>Kotlin e Dart fazem a mesma coisa!</a:t>
            </a:r>
            <a:endParaRPr b="1" sz="1000"/>
          </a:p>
        </p:txBody>
      </p:sp>
      <p:sp>
        <p:nvSpPr>
          <p:cNvPr id="216" name="Google Shape;216;p29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Visão Geral (Parser)</a:t>
            </a:r>
            <a:endParaRPr/>
          </a:p>
        </p:txBody>
      </p:sp>
      <p:sp>
        <p:nvSpPr>
          <p:cNvPr id="222" name="Google Shape;222;p30"/>
          <p:cNvSpPr txBox="1"/>
          <p:nvPr/>
        </p:nvSpPr>
        <p:spPr>
          <a:xfrm>
            <a:off x="311700" y="1543075"/>
            <a:ext cx="2911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Tipo Nullable para Objetos:</a:t>
            </a:r>
            <a:endParaRPr/>
          </a:p>
        </p:txBody>
      </p:sp>
      <p:pic>
        <p:nvPicPr>
          <p:cNvPr id="223" name="Google Shape;223;p30" title="Captura de tela 25.11.2025 às 10.00.1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151" y="1194437"/>
            <a:ext cx="2507300" cy="308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0"/>
          <p:cNvSpPr txBox="1"/>
          <p:nvPr/>
        </p:nvSpPr>
        <p:spPr>
          <a:xfrm>
            <a:off x="514950" y="2458225"/>
            <a:ext cx="4141500" cy="17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100"/>
              <a:t>Se existir ? (HOOK), cria um tipo nullable: Eletrodomestico? → TipoNullable(Eletrodomestico)</a:t>
            </a:r>
            <a:br>
              <a:rPr b="1" lang="pt-BR" sz="1100"/>
            </a:br>
            <a:br>
              <a:rPr b="1" lang="pt-BR" sz="1100"/>
            </a:br>
            <a:endParaRPr b="1" sz="1100"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pt-BR" sz="1100"/>
              <a:t>Se não existir, tipo é não-null (tipoClasse padrão): </a:t>
            </a:r>
            <a:r>
              <a:rPr b="1" lang="pt-BR" sz="1100"/>
              <a:t>Eletrodomestico</a:t>
            </a:r>
            <a:endParaRPr b="1" sz="1100"/>
          </a:p>
        </p:txBody>
      </p:sp>
      <p:sp>
        <p:nvSpPr>
          <p:cNvPr id="225" name="Google Shape;225;p30"/>
          <p:cNvSpPr/>
          <p:nvPr/>
        </p:nvSpPr>
        <p:spPr>
          <a:xfrm>
            <a:off x="4523725" y="2753525"/>
            <a:ext cx="683100" cy="6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1E2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523725" y="3268500"/>
            <a:ext cx="683100" cy="5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1E2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</a:t>
            </a:r>
            <a:r>
              <a:rPr lang="pt-BR"/>
              <a:t>ção - Visão Geral (Parser)</a:t>
            </a:r>
            <a:endParaRPr/>
          </a:p>
        </p:txBody>
      </p:sp>
      <p:sp>
        <p:nvSpPr>
          <p:cNvPr id="233" name="Google Shape;233;p31"/>
          <p:cNvSpPr txBox="1"/>
          <p:nvPr/>
        </p:nvSpPr>
        <p:spPr>
          <a:xfrm>
            <a:off x="155125" y="1181275"/>
            <a:ext cx="4707900" cy="26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pt-BR" sz="1100"/>
              <a:t>Regra de produção de Safe Call (Atributo).</a:t>
            </a:r>
            <a:br>
              <a:rPr lang="pt-BR" sz="1100"/>
            </a:br>
            <a:r>
              <a:rPr lang="pt-BR" sz="1100"/>
              <a:t>4 Alternativas: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Reconhece algo como </a:t>
            </a:r>
            <a:r>
              <a:rPr i="1" lang="pt-BR" sz="1100"/>
              <a:t>(expr)?.atributo</a:t>
            </a:r>
            <a:r>
              <a:rPr lang="pt-BR" sz="1100"/>
              <a:t>.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Reconhece acesso aninhado, como </a:t>
            </a:r>
            <a:r>
              <a:rPr i="1" lang="pt-BR" sz="1100"/>
              <a:t>obj?.outra?.atributo</a:t>
            </a:r>
            <a:r>
              <a:rPr lang="pt-BR" sz="1100"/>
              <a:t>.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Reconhece acesso via this, por exemplo, </a:t>
            </a:r>
            <a:r>
              <a:rPr i="1" lang="pt-BR" sz="1100"/>
              <a:t>this?.foo</a:t>
            </a:r>
            <a:r>
              <a:rPr lang="pt-BR" sz="1100"/>
              <a:t>.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Caso mais simples: qualquer identificador seguido de safe dot, por exemplo, </a:t>
            </a:r>
            <a:r>
              <a:rPr i="1" lang="pt-BR" sz="1100"/>
              <a:t>foo?.bar</a:t>
            </a:r>
            <a:r>
              <a:rPr lang="pt-BR" sz="1100"/>
              <a:t>.</a:t>
            </a:r>
            <a:endParaRPr sz="11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34" name="Google Shape;234;p31" title="Captura de Tela 2025-11-24 às 23.10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550" y="1225563"/>
            <a:ext cx="3344600" cy="269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Visão Geral (Parser)</a:t>
            </a:r>
            <a:endParaRPr/>
          </a:p>
        </p:txBody>
      </p:sp>
      <p:sp>
        <p:nvSpPr>
          <p:cNvPr id="241" name="Google Shape;241;p32"/>
          <p:cNvSpPr txBox="1"/>
          <p:nvPr/>
        </p:nvSpPr>
        <p:spPr>
          <a:xfrm>
            <a:off x="155125" y="1181275"/>
            <a:ext cx="62130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pt-BR" sz="1100"/>
              <a:t>Regra de produção de Safe Call (Método).</a:t>
            </a:r>
            <a:br>
              <a:rPr lang="pt-BR" sz="1100"/>
            </a:br>
            <a:r>
              <a:rPr lang="pt-BR" sz="1100"/>
              <a:t>2 Alternativas: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Reconhece algo como expChamadora?.metodo()</a:t>
            </a:r>
            <a:endParaRPr sz="11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pt-BR" sz="1100"/>
              <a:t>Reconhece algo como obj?.metodo(param1, param2, ...)</a:t>
            </a:r>
            <a:endParaRPr sz="11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42" name="Google Shape;242;p32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  <p:pic>
        <p:nvPicPr>
          <p:cNvPr id="243" name="Google Shape;243;p32" title="Captura de Tela 2025-11-25 às 16.20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5050" y="2155301"/>
            <a:ext cx="5244574" cy="22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Visão Geral (Parser)</a:t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311700" y="1543075"/>
            <a:ext cx="68766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Em resumo: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2 novos tokens (?: e ?.)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Tipo Nullable para Objetos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3 novas produções (PExpElvis, PAcessoAtributoSafeCall, PChamadaMetodoSafeCall)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Integrações nas produções existentes para reconhecer os novos operadores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Uso de LOOKAHEAD para resolver ambiguidades e evitar recursão à esquerda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</a:t>
            </a:r>
            <a:r>
              <a:rPr lang="pt-BR"/>
              <a:t>AcessoAtributoSafeCall.java</a:t>
            </a:r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265975" y="1492725"/>
            <a:ext cx="41268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Características principais: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alvo?.id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Estende AcessoAtributo para acesso seguro a atributos (?.)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pt-BR">
                <a:solidFill>
                  <a:schemeClr val="dk1"/>
                </a:solidFill>
              </a:rPr>
              <a:t>avaliar()</a:t>
            </a:r>
            <a:r>
              <a:rPr lang="pt-BR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pt-BR" sz="1100">
                <a:solidFill>
                  <a:schemeClr val="dk1"/>
                </a:solidFill>
              </a:rPr>
              <a:t>se o alvo for ValorNull, retorna ValorNull.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pt-BR" sz="1100">
                <a:solidFill>
                  <a:schemeClr val="dk1"/>
                </a:solidFill>
              </a:rPr>
              <a:t>Se não for referência de objeto, devolve exception. Isso protege contra algo como 5?.x ou "abc"?.y: acessar atributo de algo que não é objeto é erro.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pt-BR" sz="1100">
                <a:solidFill>
                  <a:schemeClr val="dk1"/>
                </a:solidFill>
              </a:rPr>
              <a:t>Se não, faz o acesso normal; se o atributo não existir, retorna ValorNull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56" name="Google Shape;256;p34" title="Captura de Tela 2025-11-24 às 23.26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350" y="1332875"/>
            <a:ext cx="3862205" cy="273889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AcessoAtributoSafeCall.java</a:t>
            </a:r>
            <a:endParaRPr/>
          </a:p>
        </p:txBody>
      </p:sp>
      <p:sp>
        <p:nvSpPr>
          <p:cNvPr id="263" name="Google Shape;263;p35"/>
          <p:cNvSpPr txBox="1"/>
          <p:nvPr/>
        </p:nvSpPr>
        <p:spPr>
          <a:xfrm>
            <a:off x="265975" y="1492725"/>
            <a:ext cx="41268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</a:rPr>
              <a:t>Características principais: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pt-BR">
                <a:solidFill>
                  <a:schemeClr val="dk1"/>
                </a:solidFill>
              </a:rPr>
              <a:t>ChecaTipo</a:t>
            </a:r>
            <a:r>
              <a:rPr b="1" lang="pt-BR">
                <a:solidFill>
                  <a:schemeClr val="dk1"/>
                </a:solidFill>
              </a:rPr>
              <a:t>()</a:t>
            </a:r>
            <a:r>
              <a:rPr lang="pt-BR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</a:pPr>
            <a:r>
              <a:rPr lang="pt-BR" sz="1100">
                <a:solidFill>
                  <a:schemeClr val="dk1"/>
                </a:solidFill>
              </a:rPr>
              <a:t>Primeiro checa se o alvo é bem tipado.</a:t>
            </a:r>
            <a:endParaRPr sz="1100">
              <a:solidFill>
                <a:schemeClr val="dk1"/>
              </a:solidFill>
            </a:endParaRPr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</a:pPr>
            <a:r>
              <a:rPr lang="pt-BR" sz="1100">
                <a:solidFill>
                  <a:schemeClr val="dk1"/>
                </a:solidFill>
              </a:rPr>
              <a:t>Obtem o tipo do alvo, e alvo?.atributo é um acesso válido, ou seja (atributo existe em alguma classe da hierarquia, ou alvo é null puro).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  <p:pic>
        <p:nvPicPr>
          <p:cNvPr id="265" name="Google Shape;265;p35" title="Captura de Tela 2025-11-26 às 22.17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700" y="1620711"/>
            <a:ext cx="4446423" cy="2326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ChamadaMetodoSafeCall.java</a:t>
            </a:r>
            <a:endParaRPr/>
          </a:p>
        </p:txBody>
      </p:sp>
      <p:sp>
        <p:nvSpPr>
          <p:cNvPr id="271" name="Google Shape;271;p36"/>
          <p:cNvSpPr txBox="1"/>
          <p:nvPr/>
        </p:nvSpPr>
        <p:spPr>
          <a:xfrm>
            <a:off x="216025" y="1112925"/>
            <a:ext cx="7891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Características principais: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Estende ChamadaMetodoOO2 para chamadas seguras de métodos (?.)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Reaproveitamos toda a lógica normal de chamada de método em OO2 via herança, só alterando: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pt-BR"/>
              <a:t>executar():</a:t>
            </a:r>
            <a:r>
              <a:rPr lang="pt-BR"/>
              <a:t> se a expressão for ValorNull, não faz nada (retorna o ambiente inalterado); caso contrário, chama o método normalmente.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pt-BR"/>
              <a:t>checaTipo():</a:t>
            </a:r>
            <a:r>
              <a:rPr lang="pt-BR"/>
              <a:t> permite alvo null (válido); caso contrário, verifica o tipo normalmente.</a:t>
            </a:r>
            <a:br>
              <a:rPr lang="pt-BR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“se a retorno for null, não faça nada”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ChamadaMetodoSafeCall.java</a:t>
            </a:r>
            <a:endParaRPr/>
          </a:p>
        </p:txBody>
      </p:sp>
      <p:pic>
        <p:nvPicPr>
          <p:cNvPr id="277" name="Google Shape;277;p37" title="Captura de tela 25.11.2025 às 09.40.1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75" y="1147250"/>
            <a:ext cx="4277630" cy="3291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7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4951550" y="1112925"/>
            <a:ext cx="3768600" cy="13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pt-BR" sz="1100"/>
              <a:t>Se o resultado da expressão é </a:t>
            </a:r>
            <a:r>
              <a:rPr b="1" lang="pt-BR" sz="1100"/>
              <a:t>null</a:t>
            </a:r>
            <a:r>
              <a:rPr lang="pt-BR" sz="1100"/>
              <a:t> (representado por </a:t>
            </a:r>
            <a:r>
              <a:rPr b="1" lang="pt-BR" sz="1100"/>
              <a:t>ValorNull</a:t>
            </a:r>
            <a:r>
              <a:rPr lang="pt-BR" sz="1100"/>
              <a:t>), não tenta resolver objeto, classe, método etc. Não altera o ambiente de execução. Não dispara erro de objeto não declarado, método não definido, etc.</a:t>
            </a:r>
            <a:endParaRPr sz="11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●"/>
            </a:pPr>
            <a:r>
              <a:rPr lang="pt-BR" sz="1100"/>
              <a:t>Se não for null, delega para a implementação padrão (</a:t>
            </a:r>
            <a:r>
              <a:rPr b="1" lang="pt-BR" sz="1100"/>
              <a:t>ChamadaMetodoOO2</a:t>
            </a:r>
            <a:r>
              <a:rPr lang="pt-BR" sz="1100"/>
              <a:t>).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4951550" y="2648500"/>
            <a:ext cx="3768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pt-BR" sz="1100"/>
              <a:t>Se o tipo inferido da expressão é o “tipo null” puro (TipoClasse.TIPO_NULL), considera a chamada bem tipada. </a:t>
            </a:r>
            <a:r>
              <a:rPr lang="pt-BR" sz="1100">
                <a:solidFill>
                  <a:schemeClr val="dk1"/>
                </a:solidFill>
              </a:rPr>
              <a:t>Se a expressão é “null puro”, a chamada é considerada sempre segura.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pt-BR" sz="1100"/>
              <a:t>Se não for null, delega para a implementação padrão (ChamadaMetodoOO2), ou seja, precisa ser uma referência de classe com método compatível (mesma checagem da chamada normal).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ExpElvis.java</a:t>
            </a:r>
            <a:endParaRPr/>
          </a:p>
        </p:txBody>
      </p:sp>
      <p:sp>
        <p:nvSpPr>
          <p:cNvPr id="286" name="Google Shape;286;p38"/>
          <p:cNvSpPr txBox="1"/>
          <p:nvPr/>
        </p:nvSpPr>
        <p:spPr>
          <a:xfrm>
            <a:off x="282750" y="1053100"/>
            <a:ext cx="8578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Características principais: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cond?:alt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Implementa </a:t>
            </a:r>
            <a:r>
              <a:rPr b="1" lang="pt-BR"/>
              <a:t>Expressao</a:t>
            </a:r>
            <a:r>
              <a:rPr lang="pt-BR"/>
              <a:t> para o operador Elvis (?:)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avaliar</a:t>
            </a:r>
            <a:r>
              <a:rPr lang="pt-BR"/>
              <a:t>(): se o lado esquerdo for </a:t>
            </a:r>
            <a:r>
              <a:rPr b="1" lang="pt-BR"/>
              <a:t>ValorNull</a:t>
            </a:r>
            <a:r>
              <a:rPr lang="pt-BR"/>
              <a:t>, avalia e retorna o lado direito; caso contrário, retorna o lado esquerdo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38" title="Captura de Tela 2025-11-24 às 23.23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375" y="2117200"/>
            <a:ext cx="3663474" cy="236622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8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Casos de Teste</a:t>
            </a:r>
            <a:endParaRPr/>
          </a:p>
        </p:txBody>
      </p:sp>
      <p:sp>
        <p:nvSpPr>
          <p:cNvPr id="294" name="Google Shape;294;p39"/>
          <p:cNvSpPr txBox="1"/>
          <p:nvPr/>
        </p:nvSpPr>
        <p:spPr>
          <a:xfrm>
            <a:off x="282750" y="1053100"/>
            <a:ext cx="58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Considere o Cen</a:t>
            </a:r>
            <a:r>
              <a:rPr lang="pt-BR"/>
              <a:t>ário base seguinte:</a:t>
            </a:r>
            <a:endParaRPr/>
          </a:p>
        </p:txBody>
      </p:sp>
      <p:pic>
        <p:nvPicPr>
          <p:cNvPr id="295" name="Google Shape;295;p39" title="Captura de tela 25.11.2025 às 09.06.3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950" y="1810749"/>
            <a:ext cx="3152954" cy="263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9" title="Captura de tela 25.11.2025 às 09.33.56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4625" y="2479573"/>
            <a:ext cx="1972825" cy="1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9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Casos de Teste</a:t>
            </a:r>
            <a:endParaRPr/>
          </a:p>
        </p:txBody>
      </p:sp>
      <p:sp>
        <p:nvSpPr>
          <p:cNvPr id="303" name="Google Shape;303;p40"/>
          <p:cNvSpPr txBox="1"/>
          <p:nvPr/>
        </p:nvSpPr>
        <p:spPr>
          <a:xfrm>
            <a:off x="282750" y="1053100"/>
            <a:ext cx="27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Tipos Nulos e N</a:t>
            </a:r>
            <a:r>
              <a:rPr lang="pt-BR"/>
              <a:t>ão-Nulos</a:t>
            </a:r>
            <a:r>
              <a:rPr lang="pt-BR"/>
              <a:t>:</a:t>
            </a:r>
            <a:endParaRPr/>
          </a:p>
        </p:txBody>
      </p:sp>
      <p:pic>
        <p:nvPicPr>
          <p:cNvPr id="304" name="Google Shape;304;p40" title="Captura de tela 25.11.2025 às 09.16.13 AM.png"/>
          <p:cNvPicPr preferRelativeResize="0"/>
          <p:nvPr/>
        </p:nvPicPr>
        <p:blipFill rotWithShape="1">
          <a:blip r:embed="rId3">
            <a:alphaModFix/>
          </a:blip>
          <a:srcRect b="0" l="2716" r="2289" t="0"/>
          <a:stretch/>
        </p:blipFill>
        <p:spPr>
          <a:xfrm>
            <a:off x="3020950" y="1815575"/>
            <a:ext cx="1715550" cy="9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0" title="Captura de tela 25.11.2025 às 09.20.28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500" y="1684075"/>
            <a:ext cx="1618240" cy="1172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0" title="Captura de tela 25.11.2025 às 09.23.47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4725" y="3076717"/>
            <a:ext cx="1618240" cy="109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0" title="Captura de tela 25.11.2025 às 09.24.38 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972" y="3146084"/>
            <a:ext cx="1805997" cy="951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40"/>
          <p:cNvCxnSpPr>
            <a:stCxn id="305" idx="3"/>
            <a:endCxn id="304" idx="1"/>
          </p:cNvCxnSpPr>
          <p:nvPr/>
        </p:nvCxnSpPr>
        <p:spPr>
          <a:xfrm>
            <a:off x="2531740" y="2270501"/>
            <a:ext cx="48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40"/>
          <p:cNvCxnSpPr>
            <a:stCxn id="306" idx="3"/>
            <a:endCxn id="307" idx="1"/>
          </p:cNvCxnSpPr>
          <p:nvPr/>
        </p:nvCxnSpPr>
        <p:spPr>
          <a:xfrm>
            <a:off x="4802965" y="3621733"/>
            <a:ext cx="4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40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Casos de Teste</a:t>
            </a:r>
            <a:endParaRPr/>
          </a:p>
        </p:txBody>
      </p:sp>
      <p:sp>
        <p:nvSpPr>
          <p:cNvPr id="316" name="Google Shape;316;p41"/>
          <p:cNvSpPr txBox="1"/>
          <p:nvPr/>
        </p:nvSpPr>
        <p:spPr>
          <a:xfrm>
            <a:off x="282750" y="1053100"/>
            <a:ext cx="27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Safe Call: </a:t>
            </a:r>
            <a:endParaRPr/>
          </a:p>
        </p:txBody>
      </p:sp>
      <p:pic>
        <p:nvPicPr>
          <p:cNvPr id="317" name="Google Shape;317;p41" title="Captura de tela 25.11.2025 às 09.37.0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650" y="1488575"/>
            <a:ext cx="1738575" cy="11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1" title="Captura de tela 25.11.2025 às 09.44.06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650" y="2970150"/>
            <a:ext cx="1738575" cy="128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1" title="Captura de tela 25.11.2025 às 09.44.45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8550" y="2434525"/>
            <a:ext cx="1623825" cy="854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1" title="Captura de tela 25.11.2025 às 09.49.08 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75" y="1256075"/>
            <a:ext cx="1806300" cy="15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1" title="Captura de tela 25.11.2025 às 09.49.54 AM.png"/>
          <p:cNvPicPr preferRelativeResize="0"/>
          <p:nvPr/>
        </p:nvPicPr>
        <p:blipFill rotWithShape="1">
          <a:blip r:embed="rId7">
            <a:alphaModFix/>
          </a:blip>
          <a:srcRect b="10289" l="3712" r="4846" t="0"/>
          <a:stretch/>
        </p:blipFill>
        <p:spPr>
          <a:xfrm>
            <a:off x="6013027" y="3324300"/>
            <a:ext cx="1533998" cy="834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41"/>
          <p:cNvCxnSpPr>
            <a:stCxn id="317" idx="3"/>
            <a:endCxn id="319" idx="1"/>
          </p:cNvCxnSpPr>
          <p:nvPr/>
        </p:nvCxnSpPr>
        <p:spPr>
          <a:xfrm>
            <a:off x="2810225" y="2062812"/>
            <a:ext cx="478200" cy="79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41"/>
          <p:cNvCxnSpPr>
            <a:stCxn id="318" idx="3"/>
            <a:endCxn id="319" idx="1"/>
          </p:cNvCxnSpPr>
          <p:nvPr/>
        </p:nvCxnSpPr>
        <p:spPr>
          <a:xfrm flipH="1" rot="10800000">
            <a:off x="2810225" y="2861893"/>
            <a:ext cx="478200" cy="74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41"/>
          <p:cNvCxnSpPr>
            <a:stCxn id="320" idx="2"/>
            <a:endCxn id="321" idx="0"/>
          </p:cNvCxnSpPr>
          <p:nvPr/>
        </p:nvCxnSpPr>
        <p:spPr>
          <a:xfrm>
            <a:off x="6780025" y="2820000"/>
            <a:ext cx="0" cy="50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41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Casos de Teste</a:t>
            </a:r>
            <a:endParaRPr/>
          </a:p>
        </p:txBody>
      </p:sp>
      <p:sp>
        <p:nvSpPr>
          <p:cNvPr id="331" name="Google Shape;331;p42"/>
          <p:cNvSpPr txBox="1"/>
          <p:nvPr/>
        </p:nvSpPr>
        <p:spPr>
          <a:xfrm>
            <a:off x="282750" y="1053100"/>
            <a:ext cx="27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Elvis: </a:t>
            </a:r>
            <a:endParaRPr/>
          </a:p>
        </p:txBody>
      </p:sp>
      <p:pic>
        <p:nvPicPr>
          <p:cNvPr id="332" name="Google Shape;332;p42" title="Captura de Tela 2025-11-25 às 12.54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350" y="1453300"/>
            <a:ext cx="3342277" cy="1260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2" title="Captura de Tela 2025-11-25 às 12.55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105" y="1541048"/>
            <a:ext cx="2098871" cy="108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2" title="Captura de Tela 2025-11-25 às 12.56.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5084" y="3018542"/>
            <a:ext cx="2222914" cy="116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2" title="Captura de Tela 2025-11-25 às 12.59.3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4009" y="2863135"/>
            <a:ext cx="2426957" cy="14754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" name="Google Shape;336;p42"/>
          <p:cNvCxnSpPr>
            <a:stCxn id="332" idx="3"/>
            <a:endCxn id="333" idx="1"/>
          </p:cNvCxnSpPr>
          <p:nvPr/>
        </p:nvCxnSpPr>
        <p:spPr>
          <a:xfrm>
            <a:off x="4498627" y="2083542"/>
            <a:ext cx="928500" cy="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42"/>
          <p:cNvCxnSpPr>
            <a:stCxn id="335" idx="3"/>
            <a:endCxn id="334" idx="1"/>
          </p:cNvCxnSpPr>
          <p:nvPr/>
        </p:nvCxnSpPr>
        <p:spPr>
          <a:xfrm>
            <a:off x="4040967" y="3600880"/>
            <a:ext cx="1324200" cy="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42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3"/>
          <p:cNvSpPr txBox="1"/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- Casos de Teste</a:t>
            </a:r>
            <a:endParaRPr/>
          </a:p>
        </p:txBody>
      </p:sp>
      <p:sp>
        <p:nvSpPr>
          <p:cNvPr id="344" name="Google Shape;344;p43"/>
          <p:cNvSpPr txBox="1"/>
          <p:nvPr/>
        </p:nvSpPr>
        <p:spPr>
          <a:xfrm>
            <a:off x="282750" y="1053100"/>
            <a:ext cx="27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Elvis +: </a:t>
            </a:r>
            <a:endParaRPr/>
          </a:p>
        </p:txBody>
      </p:sp>
      <p:pic>
        <p:nvPicPr>
          <p:cNvPr id="345" name="Google Shape;345;p43" title="Captura de Tela 2025-11-25 às 13.07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350" y="1488575"/>
            <a:ext cx="3601799" cy="1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3" title="Captura de Tela 2025-11-25 às 13.08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3655" y="1488578"/>
            <a:ext cx="3601799" cy="1475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3" title="Captura de Tela 2025-11-25 às 13.09.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7678" y="3259793"/>
            <a:ext cx="2453753" cy="1288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3" title="Captura de Tela 2025-11-25 às 13.09.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7373" y="3259788"/>
            <a:ext cx="2453753" cy="12889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" name="Google Shape;349;p43"/>
          <p:cNvCxnSpPr>
            <a:endCxn id="348" idx="0"/>
          </p:cNvCxnSpPr>
          <p:nvPr/>
        </p:nvCxnSpPr>
        <p:spPr>
          <a:xfrm flipH="1">
            <a:off x="2514250" y="2966388"/>
            <a:ext cx="6600" cy="293400"/>
          </a:xfrm>
          <a:prstGeom prst="straightConnector1">
            <a:avLst/>
          </a:prstGeom>
          <a:noFill/>
          <a:ln cap="flat" cmpd="sng" w="9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43"/>
          <p:cNvCxnSpPr>
            <a:endCxn id="347" idx="0"/>
          </p:cNvCxnSpPr>
          <p:nvPr/>
        </p:nvCxnSpPr>
        <p:spPr>
          <a:xfrm flipH="1">
            <a:off x="6364554" y="2944793"/>
            <a:ext cx="28500" cy="315000"/>
          </a:xfrm>
          <a:prstGeom prst="straightConnector1">
            <a:avLst/>
          </a:prstGeom>
          <a:noFill/>
          <a:ln cap="flat" cmpd="sng" w="9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43"/>
          <p:cNvSpPr txBox="1"/>
          <p:nvPr/>
        </p:nvSpPr>
        <p:spPr>
          <a:xfrm>
            <a:off x="265975" y="4600300"/>
            <a:ext cx="44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434343"/>
                </a:solidFill>
              </a:rPr>
              <a:t>Imagem: Humberto Távora e António Pedro e João Pedro (2025)</a:t>
            </a:r>
            <a:endParaRPr sz="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